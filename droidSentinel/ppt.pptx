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986A-69A3-587E-079E-CBE5AA987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543F5-EE94-0A35-B3A4-FF60C7360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41367-B93B-932E-D625-2F748286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9AE0B-27DF-9E62-22F6-6032E08C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8B3DA-3294-EA3A-0E49-723AC706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54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52FB-BAB2-F2EE-3202-F396019E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669D-0EC0-6A0E-B1B2-D0B8E5085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7B029-09AD-3DBA-75B4-29964DE1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81E6-5DE6-C64B-022E-56BE51B7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E4C2-E191-A408-385F-F5A9B73D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70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3076-BCE9-8464-0548-FC03E8AA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7AB27-CE10-D981-F47E-D866BEFE7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0ADBA-47A8-E435-9AD9-2DB3227D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43387-17C1-BA99-FECF-F9AAAAB9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9857-01DE-FAB0-111F-AB188F2D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8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84BF-74AB-3C74-F750-094284AA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03B4-777E-4CCC-7CDD-AEB25038E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F3A0C-B772-BDD6-819C-9D0E28D55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3ADDD-B8B3-6D47-8E19-873377F0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C0E7-61C2-94D5-983F-5245F6D7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07646-9C32-F5B0-68A3-A5D29059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83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8A74-B376-A236-436A-F2444EC9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5B04A-6BE7-06F7-A17A-9350611C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5EDC4-E790-7BCC-F4AF-84A15AE58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58F6E-E746-F8D5-0E56-A206C1AEE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FA116-386D-1A0B-76BA-CD70ED425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9AA8B-820A-3576-7C2A-9247ECAE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C1D21-32C9-6874-7BD4-1FF797D0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1FA83-FA6D-3357-27E1-50349891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4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148B-4003-DDE4-6CD9-B8DF40C1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A421-1ED8-8886-B234-9E772D0D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D5F24-5B5C-6F72-2394-D6993FDD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0CBCF-313A-B37B-D354-BFCFFE08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15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D5041-7C55-ECEC-C40F-A0C410C5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E5E40-E115-0027-8900-58C50F1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F39DC-2EEC-A4AB-1B0E-F802CAF1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20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E21F-C9A7-7920-6260-C11448A0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7D9E3-46DF-BC9B-552B-F4F98FEB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5DBF3-865B-5E82-EB61-3D78C57A2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52338-397D-EF50-7201-F28088E0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266F8-0D62-7A41-447D-9984D437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8162B-4C42-D50B-7251-4C2E71FE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880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3B79-A4E6-2267-3C8C-5E03B68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27885-DC9A-0DF3-7884-A27CDDDA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098CD-69FD-A940-F1C3-95C6AB778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C1033-7DEC-AEAB-31E7-38CEF209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0B8D7-60E5-5AFD-73B0-62C13416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B6866-867C-1D3E-9B7F-40011072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5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916D-FD83-BC84-EAAE-319826B4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B450F-2814-B699-B414-D497BF2F2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4166E-B2BE-8F74-3972-A9CCA728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A1CF-856B-3C64-DA2A-473B2ABE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F0169-8D95-50D2-C570-4F858A20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51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BF2C4-9D58-F3B2-B184-C1CAAEC5AD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0C272-6ECE-2C7B-E2AE-5E5B002D7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86B8F-4674-C413-3343-EB1D0A09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3704-28F1-E5E3-36BC-F0AC4212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4A610-2236-7D14-79E6-CC85EB8A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4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2F609-1011-448F-3CAE-963FA5CC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E056A-F9E8-91C4-9C90-0E8A17473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EA3F-3022-6195-A547-3D6795637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42C17-6033-4A00-8813-D87C5AFD6152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DF80B-4498-CDEE-07E7-54A2EB328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8AC4-3887-866F-A77F-E6503AD81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EBAEA-E8C4-4EB2-88CE-7A287FF34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45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FE3D-5D81-A4A8-23BB-7BCA2289F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850691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+mn-lt"/>
              </a:rPr>
              <a:t>Title:</a:t>
            </a:r>
            <a:r>
              <a:rPr lang="en-IN" sz="2800" dirty="0">
                <a:latin typeface="+mn-lt"/>
              </a:rPr>
              <a:t> </a:t>
            </a:r>
            <a:r>
              <a:rPr lang="en-IN" sz="2800" dirty="0" err="1">
                <a:latin typeface="+mn-lt"/>
              </a:rPr>
              <a:t>DroidSentinel</a:t>
            </a:r>
            <a:r>
              <a:rPr lang="en-IN" sz="2800" dirty="0">
                <a:latin typeface="+mn-lt"/>
              </a:rPr>
              <a:t>: An Android Anti-Forensics Detection Framework</a:t>
            </a:r>
            <a:br>
              <a:rPr lang="en-IN" sz="2800" dirty="0">
                <a:latin typeface="+mn-lt"/>
              </a:rPr>
            </a:br>
            <a:r>
              <a:rPr lang="en-IN" sz="2800" b="1" dirty="0">
                <a:latin typeface="+mn-lt"/>
              </a:rPr>
              <a:t>Subtitle:</a:t>
            </a:r>
            <a:r>
              <a:rPr lang="en-IN" sz="2800" dirty="0">
                <a:latin typeface="+mn-lt"/>
              </a:rPr>
              <a:t> Automated Multi-Vector Detection with Rule-Based Analysis and Machine Learning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Presented by: Pavitra Kulkarni (PES1UG24CS817)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Supervisor: Prof. Preet Kanwal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Research Centre: PESU-ISFCR — AI/ML for Cybersecurity</a:t>
            </a:r>
            <a:br>
              <a:rPr lang="en-IN" sz="2800" dirty="0">
                <a:latin typeface="+mn-lt"/>
              </a:rPr>
            </a:br>
            <a:r>
              <a:rPr lang="en-IN" sz="2800" dirty="0">
                <a:latin typeface="+mn-lt"/>
              </a:rPr>
              <a:t>Duration: June–July 2026</a:t>
            </a:r>
            <a:br>
              <a:rPr lang="en-IN" sz="2800" dirty="0">
                <a:latin typeface="+mn-lt"/>
              </a:rPr>
            </a:br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485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E563-5031-9077-73DD-6EDD0A2F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949"/>
          </a:xfrm>
        </p:spPr>
        <p:txBody>
          <a:bodyPr/>
          <a:lstStyle/>
          <a:p>
            <a:r>
              <a:rPr lang="en-IN" b="1" dirty="0"/>
              <a:t>Title:</a:t>
            </a:r>
            <a:r>
              <a:rPr lang="en-IN" dirty="0"/>
              <a:t> Mobile Forensics —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19003-87C9-E920-F3BB-E19B741F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074"/>
            <a:ext cx="10515600" cy="500588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Key Areas of Mobile Forensics:</a:t>
            </a:r>
            <a:endParaRPr lang="en-IN" dirty="0"/>
          </a:p>
          <a:p>
            <a:r>
              <a:rPr lang="en-IN" dirty="0"/>
              <a:t>Data acquisition (physical, logical, file system)</a:t>
            </a:r>
          </a:p>
          <a:p>
            <a:r>
              <a:rPr lang="en-IN" dirty="0"/>
              <a:t>Data recovery (deleted files, SQLite WAL)</a:t>
            </a:r>
          </a:p>
          <a:p>
            <a:r>
              <a:rPr lang="en-IN" dirty="0"/>
              <a:t>Network forensics (call logs, SMS, internet)</a:t>
            </a:r>
          </a:p>
          <a:p>
            <a:r>
              <a:rPr lang="en-IN" dirty="0"/>
              <a:t>App forensics (WhatsApp, social media)</a:t>
            </a:r>
          </a:p>
          <a:p>
            <a:r>
              <a:rPr lang="en-IN" b="1" dirty="0"/>
              <a:t>Anti-forensics detection ← This project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Why Android?</a:t>
            </a:r>
            <a:endParaRPr lang="en-IN" dirty="0"/>
          </a:p>
          <a:p>
            <a:r>
              <a:rPr lang="en-IN" dirty="0"/>
              <a:t>72% global smartphone market share</a:t>
            </a:r>
          </a:p>
          <a:p>
            <a:r>
              <a:rPr lang="en-IN" dirty="0"/>
              <a:t>Most targeted platform in criminal investigations</a:t>
            </a:r>
          </a:p>
          <a:p>
            <a:r>
              <a:rPr lang="en-IN" dirty="0"/>
              <a:t>Open architecture makes it both vulnerable and </a:t>
            </a:r>
            <a:r>
              <a:rPr lang="en-IN" dirty="0" err="1"/>
              <a:t>analyzable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74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A589-4CFF-8D7A-EADF-6B13A6132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7822"/>
          </a:xfrm>
        </p:spPr>
        <p:txBody>
          <a:bodyPr/>
          <a:lstStyle/>
          <a:p>
            <a:r>
              <a:rPr lang="en-IN" b="1" dirty="0"/>
              <a:t>Title:</a:t>
            </a:r>
            <a:r>
              <a:rPr lang="en-IN" dirty="0"/>
              <a:t> Anti-Forensics on Android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9EBC17C-20C6-F03F-CC1A-4D6309DA7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072786"/>
              </p:ext>
            </p:extLst>
          </p:nvPr>
        </p:nvGraphicFramePr>
        <p:xfrm>
          <a:off x="838200" y="1653856"/>
          <a:ext cx="10515600" cy="363987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611844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91812307"/>
                    </a:ext>
                  </a:extLst>
                </a:gridCol>
              </a:tblGrid>
              <a:tr h="428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26796"/>
                  </a:ext>
                </a:extLst>
              </a:tr>
              <a:tr h="428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Destruction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wiping, secure deletion, DB vacuuming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881826"/>
                  </a:ext>
                </a:extLst>
              </a:tr>
              <a:tr h="749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Trace Concealment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uninstall, Clear Data, factory reset, timestamp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5041"/>
                  </a:ext>
                </a:extLst>
              </a:tr>
              <a:tr h="749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disk encryption, encrypted containers, steganography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650496"/>
                  </a:ext>
                </a:extLst>
              </a:tr>
              <a:tr h="428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VPN, Tor, ephemeral messaging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546341"/>
                  </a:ext>
                </a:extLst>
              </a:tr>
              <a:tr h="428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Remote wipe, kill switch, duress passwords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81302"/>
                  </a:ext>
                </a:extLst>
              </a:tr>
              <a:tr h="428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App-level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Vault apps, decoy apps, disappearing messages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9882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7AE6AFC-547E-DF3E-7B40-2848A7B24EB9}"/>
              </a:ext>
            </a:extLst>
          </p:cNvPr>
          <p:cNvSpPr txBox="1"/>
          <p:nvPr/>
        </p:nvSpPr>
        <p:spPr>
          <a:xfrm>
            <a:off x="838200" y="1284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Anti-Forensics Categories on Android: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07AE27-1ACC-1011-0B1C-8246D6603A21}"/>
              </a:ext>
            </a:extLst>
          </p:cNvPr>
          <p:cNvSpPr txBox="1"/>
          <p:nvPr/>
        </p:nvSpPr>
        <p:spPr>
          <a:xfrm>
            <a:off x="838200" y="5824634"/>
            <a:ext cx="766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This Project Focuses On:</a:t>
            </a:r>
            <a:r>
              <a:rPr lang="en-IN" sz="2000" dirty="0"/>
              <a:t> Data Destruction + Trace Concealment</a:t>
            </a:r>
          </a:p>
        </p:txBody>
      </p:sp>
    </p:spTree>
    <p:extLst>
      <p:ext uri="{BB962C8B-B14F-4D97-AF65-F5344CB8AC3E}">
        <p14:creationId xmlns:p14="http://schemas.microsoft.com/office/powerpoint/2010/main" val="5677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34AB-17B0-0CB2-6293-919A98DF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6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Title:</a:t>
            </a:r>
            <a:r>
              <a:rPr lang="en-IN" dirty="0"/>
              <a:t> Research Gap — Why </a:t>
            </a:r>
            <a:r>
              <a:rPr lang="en-IN" dirty="0" err="1"/>
              <a:t>DroidSentinel</a:t>
            </a:r>
            <a:r>
              <a:rPr lang="en-IN" dirty="0"/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4256B4-EE6E-415D-8C85-80EF0751FD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073912"/>
              </p:ext>
            </p:extLst>
          </p:nvPr>
        </p:nvGraphicFramePr>
        <p:xfrm>
          <a:off x="838200" y="1499710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916475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71790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49756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67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Autopsy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 forensics, not anti-forensics specific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49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Cellebrite UFED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Commercial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Expensive, no confidence score, proprietary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28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Oxygen Forensics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Commercial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anti-forensics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09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AFLogical 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Extraction only, no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041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ADB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Time-consuming, skill-dependent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5061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BC16F2-1BC9-3AE9-05F0-D705FA8B8717}"/>
              </a:ext>
            </a:extLst>
          </p:cNvPr>
          <p:cNvSpPr txBox="1"/>
          <p:nvPr/>
        </p:nvSpPr>
        <p:spPr>
          <a:xfrm>
            <a:off x="838200" y="10865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Existing Tools Do: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13FFC-AAC6-0E67-38BC-ABC6F09DE05D}"/>
              </a:ext>
            </a:extLst>
          </p:cNvPr>
          <p:cNvSpPr txBox="1"/>
          <p:nvPr/>
        </p:nvSpPr>
        <p:spPr>
          <a:xfrm>
            <a:off x="838200" y="4461549"/>
            <a:ext cx="102468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Does Not Exist:</a:t>
            </a:r>
            <a:endParaRPr lang="en-IN" dirty="0"/>
          </a:p>
          <a:p>
            <a:r>
              <a:rPr lang="en-IN" dirty="0"/>
              <a:t>No open-source automated framework that detects multiple Android anti-forensic attack vectors simultaneously with a weighted confidence score on Android 10.</a:t>
            </a:r>
          </a:p>
          <a:p>
            <a:endParaRPr lang="en-IN" dirty="0"/>
          </a:p>
          <a:p>
            <a:r>
              <a:rPr lang="en-IN" b="1" dirty="0"/>
              <a:t>Novel Contribution:</a:t>
            </a:r>
            <a:br>
              <a:rPr lang="en-IN" dirty="0"/>
            </a:br>
            <a:r>
              <a:rPr lang="en-IN" dirty="0" err="1"/>
              <a:t>notification_log.db</a:t>
            </a:r>
            <a:r>
              <a:rPr lang="en-IN" dirty="0"/>
              <a:t> as a ghost trace artifact surviving app uninstall on Android 10 — not documented in prior literature.</a:t>
            </a:r>
          </a:p>
        </p:txBody>
      </p:sp>
    </p:spTree>
    <p:extLst>
      <p:ext uri="{BB962C8B-B14F-4D97-AF65-F5344CB8AC3E}">
        <p14:creationId xmlns:p14="http://schemas.microsoft.com/office/powerpoint/2010/main" val="3471747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6C40-C1C0-E644-2989-7CF27C98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62A1B1-98D8-67ED-59F1-37BAD81F3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297335"/>
              </p:ext>
            </p:extLst>
          </p:nvPr>
        </p:nvGraphicFramePr>
        <p:xfrm>
          <a:off x="950495" y="1058780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826375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32488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56395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8756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Relevance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90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Oh et al., Wiley J. Forensic Sciences 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wiping apps leave artifacts in system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Core gap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01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DFIR Review 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factory_reset file as timestamp artifact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R05 rule basis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6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Magnet Forensics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Wasted, Secure Folder artifact signatures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App-specific 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09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Belkasoft 2024-25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artifact baselines — usagestats, dropbox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70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digital-forensics.it Nov 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Under-researched Samsung artifacts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Android 10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00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arXiv 2014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Foundational anti-forensics theory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Forensic paradox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5727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B6FFB9-B2A9-91B4-EEBE-1216BC43A2EE}"/>
              </a:ext>
            </a:extLst>
          </p:cNvPr>
          <p:cNvSpPr txBox="1"/>
          <p:nvPr/>
        </p:nvSpPr>
        <p:spPr>
          <a:xfrm>
            <a:off x="838200" y="5358509"/>
            <a:ext cx="7936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Gap Identified Across All 6 Papers:</a:t>
            </a:r>
            <a:br>
              <a:rPr lang="en-IN" dirty="0"/>
            </a:br>
            <a:r>
              <a:rPr lang="en-IN" dirty="0"/>
              <a:t>All papers study individual techniques manually on pre-Android 10 devices. None build an automated detection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12853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AFFD-65E5-8D82-B9FB-C9158525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DroidSentinel</a:t>
            </a:r>
            <a:r>
              <a:rPr lang="en-IN" dirty="0"/>
              <a:t> —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2EA72-E32E-17A1-F023-F4B1467B2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158"/>
            <a:ext cx="10515600" cy="49738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Android Device (API 29) -&gt; ADB artifact_collector.py -&gt;  Scan Folder (timestamped) -&gt; rule_engine.py ml_detector.py (R01–R11 rules) (Isolation Forest) -&gt; scorer.py (Confidence Score) -&gt;  app.py Dashboard (</a:t>
            </a:r>
            <a:r>
              <a:rPr lang="en-IN" dirty="0" err="1"/>
              <a:t>Streamlit</a:t>
            </a:r>
            <a:r>
              <a:rPr lang="en-IN" dirty="0"/>
              <a:t> UI) -&gt; PDF Forensic Report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Components:</a:t>
            </a:r>
            <a:endParaRPr lang="en-IN" dirty="0"/>
          </a:p>
          <a:p>
            <a:r>
              <a:rPr lang="en-IN" dirty="0"/>
              <a:t>Artifact Collector — Automated ADB extraction</a:t>
            </a:r>
          </a:p>
          <a:p>
            <a:r>
              <a:rPr lang="en-IN" dirty="0"/>
              <a:t>Rule Engine — 11 detection rules</a:t>
            </a:r>
          </a:p>
          <a:p>
            <a:r>
              <a:rPr lang="en-IN" dirty="0"/>
              <a:t>ML Detector — Isolation Forest anomaly detection</a:t>
            </a:r>
          </a:p>
          <a:p>
            <a:r>
              <a:rPr lang="en-IN" dirty="0"/>
              <a:t>Scorer — Weighted confidence scoring</a:t>
            </a:r>
          </a:p>
          <a:p>
            <a:r>
              <a:rPr lang="en-IN" dirty="0"/>
              <a:t>Dashboard — </a:t>
            </a:r>
            <a:r>
              <a:rPr lang="en-IN" dirty="0" err="1"/>
              <a:t>Streamlit</a:t>
            </a:r>
            <a:r>
              <a:rPr lang="en-IN" dirty="0"/>
              <a:t> visualization</a:t>
            </a:r>
          </a:p>
          <a:p>
            <a:r>
              <a:rPr lang="en-IN" dirty="0"/>
              <a:t>PDF Report — Court-ready output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27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E603-8B6D-89E5-5540-1113F05C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3137"/>
            <a:ext cx="10515600" cy="744204"/>
          </a:xfrm>
        </p:spPr>
        <p:txBody>
          <a:bodyPr/>
          <a:lstStyle/>
          <a:p>
            <a:r>
              <a:rPr lang="en-IN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260F-7DCB-4D04-EEDB-B05C8C5B4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341"/>
            <a:ext cx="10515600" cy="4351338"/>
          </a:xfrm>
        </p:spPr>
        <p:txBody>
          <a:bodyPr/>
          <a:lstStyle/>
          <a:p>
            <a:r>
              <a:rPr lang="en-IN" sz="2000" b="1" dirty="0"/>
              <a:t>Environment:</a:t>
            </a:r>
            <a:endParaRPr lang="en-IN" sz="2000" dirty="0"/>
          </a:p>
          <a:p>
            <a:r>
              <a:rPr lang="en-IN" sz="2000" dirty="0"/>
              <a:t>Device: Android Studio AVD — Medium Phone</a:t>
            </a:r>
          </a:p>
          <a:p>
            <a:r>
              <a:rPr lang="en-IN" sz="2000" dirty="0"/>
              <a:t>Android Version: 10 (API 29, Android Q)</a:t>
            </a:r>
          </a:p>
          <a:p>
            <a:r>
              <a:rPr lang="en-IN" sz="2000" dirty="0"/>
              <a:t>Architecture: x86</a:t>
            </a:r>
          </a:p>
          <a:p>
            <a:r>
              <a:rPr lang="en-IN" sz="2000" dirty="0"/>
              <a:t>Root Access: via ADB</a:t>
            </a:r>
          </a:p>
          <a:p>
            <a:r>
              <a:rPr lang="en-IN" sz="2000" dirty="0"/>
              <a:t>3 Wiping Apps Tested: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C2EAAA-BA23-822F-E799-99588755E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42819"/>
              </p:ext>
            </p:extLst>
          </p:nvPr>
        </p:nvGraphicFramePr>
        <p:xfrm>
          <a:off x="838200" y="3542246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135346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25522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6391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65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iShredder</a:t>
                      </a:r>
                      <a:r>
                        <a:rPr lang="en-IN" dirty="0"/>
                        <a:t> 7.0.11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com.projectstar.ishredder.android.standard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overwrite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22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Shreddit</a:t>
                      </a:r>
                      <a:r>
                        <a:rPr lang="en-IN" dirty="0"/>
                        <a:t> 5.40.260501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com.palmtronix.shreddit.v1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Zero fill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519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Secure Eraser 1.2.6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com.aiuspaktyn.secureeraser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Free space wipe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569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0C9E4B-BFF5-431A-DEFC-211B6145E825}"/>
              </a:ext>
            </a:extLst>
          </p:cNvPr>
          <p:cNvSpPr txBox="1"/>
          <p:nvPr/>
        </p:nvSpPr>
        <p:spPr>
          <a:xfrm>
            <a:off x="838200" y="5279606"/>
            <a:ext cx="62243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 Attack Vectors:</a:t>
            </a:r>
            <a:endParaRPr lang="en-IN" dirty="0"/>
          </a:p>
          <a:p>
            <a:r>
              <a:rPr lang="en-IN" dirty="0"/>
              <a:t>V1: File Wiping Apps</a:t>
            </a:r>
          </a:p>
          <a:p>
            <a:r>
              <a:rPr lang="en-IN" dirty="0"/>
              <a:t>V2: App Uninstall (Ghost Trace)</a:t>
            </a:r>
          </a:p>
          <a:p>
            <a:r>
              <a:rPr lang="en-IN" dirty="0"/>
              <a:t>V3: Manual Log Clearing (Clear Data)</a:t>
            </a:r>
          </a:p>
          <a:p>
            <a:r>
              <a:rPr lang="en-IN" dirty="0"/>
              <a:t>V4: Factory Reset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907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997A-472E-E878-9A42-0F25D2BD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IN" dirty="0"/>
              <a:t>Artifact Survival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B9468A-1CE7-BB15-2FEB-4F1804CB5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896" y="994612"/>
            <a:ext cx="9625262" cy="3880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2823C6-DA39-4D06-F924-C4504A3978DC}"/>
              </a:ext>
            </a:extLst>
          </p:cNvPr>
          <p:cNvSpPr txBox="1"/>
          <p:nvPr/>
        </p:nvSpPr>
        <p:spPr>
          <a:xfrm>
            <a:off x="721895" y="5071247"/>
            <a:ext cx="9208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Finding:</a:t>
            </a:r>
            <a:br>
              <a:rPr lang="en-IN" sz="2400" dirty="0"/>
            </a:br>
            <a:r>
              <a:rPr lang="en-IN" sz="2400" dirty="0" err="1"/>
              <a:t>notification_log.db</a:t>
            </a:r>
            <a:r>
              <a:rPr lang="en-IN" sz="2400" dirty="0"/>
              <a:t> is the most reliable ghost trace artifact — survives all 3 vectors with 100% precision and 100% recall.</a:t>
            </a:r>
          </a:p>
        </p:txBody>
      </p:sp>
    </p:spTree>
    <p:extLst>
      <p:ext uri="{BB962C8B-B14F-4D97-AF65-F5344CB8AC3E}">
        <p14:creationId xmlns:p14="http://schemas.microsoft.com/office/powerpoint/2010/main" val="52527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4E94-5134-62AE-1053-DD8B10B5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233"/>
          </a:xfrm>
        </p:spPr>
        <p:txBody>
          <a:bodyPr>
            <a:normAutofit fontScale="90000"/>
          </a:bodyPr>
          <a:lstStyle/>
          <a:p>
            <a:r>
              <a:rPr lang="en-IN" dirty="0"/>
              <a:t>Rule Engine — 11 Detection Rules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9B115-53B8-C0A7-D9E4-3D36035A9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038" y="1039562"/>
            <a:ext cx="9542919" cy="481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98AFFB-7498-2EBB-5BD0-8BAC326D039B}"/>
              </a:ext>
            </a:extLst>
          </p:cNvPr>
          <p:cNvSpPr txBox="1"/>
          <p:nvPr/>
        </p:nvSpPr>
        <p:spPr>
          <a:xfrm>
            <a:off x="1109039" y="5969655"/>
            <a:ext cx="2502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Max Score: 285</a:t>
            </a:r>
          </a:p>
        </p:txBody>
      </p:sp>
    </p:spTree>
    <p:extLst>
      <p:ext uri="{BB962C8B-B14F-4D97-AF65-F5344CB8AC3E}">
        <p14:creationId xmlns:p14="http://schemas.microsoft.com/office/powerpoint/2010/main" val="321921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0C19-971D-3BEF-B010-BD2B70D6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359"/>
          </a:xfrm>
        </p:spPr>
        <p:txBody>
          <a:bodyPr>
            <a:normAutofit fontScale="90000"/>
          </a:bodyPr>
          <a:lstStyle/>
          <a:p>
            <a:r>
              <a:rPr lang="en-IN" dirty="0"/>
              <a:t>Weighted Confidence Scoring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E238-62DF-BAB7-C209-9B80B421A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772"/>
            <a:ext cx="10515600" cy="5601869"/>
          </a:xfrm>
        </p:spPr>
        <p:txBody>
          <a:bodyPr>
            <a:normAutofit lnSpcReduction="10000"/>
          </a:bodyPr>
          <a:lstStyle/>
          <a:p>
            <a:r>
              <a:rPr lang="en-IN" sz="2200" b="1" dirty="0"/>
              <a:t>How It Works:</a:t>
            </a:r>
            <a:endParaRPr lang="en-IN" sz="2200" dirty="0"/>
          </a:p>
          <a:p>
            <a:r>
              <a:rPr lang="en-IN" sz="2200" dirty="0"/>
              <a:t>Rules fire → scores accumulate (out of 285)</a:t>
            </a:r>
          </a:p>
          <a:p>
            <a:r>
              <a:rPr lang="en-IN" sz="2200" dirty="0"/>
              <a:t>Grouped by 4 attack vectors</a:t>
            </a:r>
          </a:p>
          <a:p>
            <a:r>
              <a:rPr lang="en-IN" sz="2200" dirty="0"/>
              <a:t>Multi-vector bonus applied: </a:t>
            </a:r>
          </a:p>
          <a:p>
            <a:pPr lvl="1"/>
            <a:r>
              <a:rPr lang="en-IN" sz="1900" dirty="0"/>
              <a:t>1 vector = 1.0x</a:t>
            </a:r>
          </a:p>
          <a:p>
            <a:pPr lvl="1"/>
            <a:r>
              <a:rPr lang="en-IN" sz="1900" dirty="0"/>
              <a:t>2 vectors = 1.15x</a:t>
            </a:r>
          </a:p>
          <a:p>
            <a:pPr lvl="1"/>
            <a:r>
              <a:rPr lang="en-IN" sz="1900" dirty="0"/>
              <a:t>3 vectors = 1.30x</a:t>
            </a:r>
          </a:p>
          <a:p>
            <a:pPr lvl="1"/>
            <a:r>
              <a:rPr lang="en-IN" sz="1900" dirty="0"/>
              <a:t>4 vectors = 1.50x</a:t>
            </a:r>
          </a:p>
          <a:p>
            <a:r>
              <a:rPr lang="en-IN" sz="2200" dirty="0"/>
              <a:t>Final confidence % calculated</a:t>
            </a:r>
          </a:p>
          <a:p>
            <a:r>
              <a:rPr lang="en-IN" sz="1900" b="1" dirty="0"/>
              <a:t>Example — All 3 Apps Running:</a:t>
            </a:r>
            <a:endParaRPr lang="en-IN" sz="1900" dirty="0"/>
          </a:p>
          <a:p>
            <a:r>
              <a:rPr lang="en-IN" sz="1900" dirty="0"/>
              <a:t>Rules Fired:      7/11</a:t>
            </a:r>
          </a:p>
          <a:p>
            <a:r>
              <a:rPr lang="en-IN" sz="1900" dirty="0"/>
              <a:t>Base Score:       180/285 (63.2%)</a:t>
            </a:r>
          </a:p>
          <a:p>
            <a:r>
              <a:rPr lang="en-IN" sz="1900" dirty="0"/>
              <a:t>Vectors Detected: 3/4</a:t>
            </a:r>
          </a:p>
          <a:p>
            <a:r>
              <a:rPr lang="en-IN" sz="1900" dirty="0"/>
              <a:t>Multiplier:       x1.30</a:t>
            </a:r>
          </a:p>
          <a:p>
            <a:r>
              <a:rPr lang="en-IN" sz="1900" dirty="0"/>
              <a:t>Final Confidence: 82.1% — HIGH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900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E4CC-B3FB-5AEC-39DB-62ACF5665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401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 Layer — Isolation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5FF1C-505E-AE86-B79F-2D38B1FD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2526"/>
            <a:ext cx="10515600" cy="5214437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Why Isolation Forest?</a:t>
            </a:r>
            <a:endParaRPr lang="en-IN" dirty="0"/>
          </a:p>
          <a:p>
            <a:r>
              <a:rPr lang="en-IN" dirty="0"/>
              <a:t>Unsupervised — no need for labelled anomaly data during training</a:t>
            </a:r>
          </a:p>
          <a:p>
            <a:r>
              <a:rPr lang="en-IN" dirty="0"/>
              <a:t>Trains only on normal samples → learns what normal looks like</a:t>
            </a:r>
          </a:p>
          <a:p>
            <a:r>
              <a:rPr lang="en-IN" dirty="0"/>
              <a:t>Flags deviations as anomalies</a:t>
            </a:r>
          </a:p>
          <a:p>
            <a:r>
              <a:rPr lang="en-IN" dirty="0"/>
              <a:t>Ideal for forensics where normal </a:t>
            </a:r>
            <a:r>
              <a:rPr lang="en-IN" dirty="0" err="1"/>
              <a:t>behavior</a:t>
            </a:r>
            <a:r>
              <a:rPr lang="en-IN" dirty="0"/>
              <a:t> is well-defined</a:t>
            </a:r>
          </a:p>
          <a:p>
            <a:r>
              <a:rPr lang="en-IN" b="1" dirty="0"/>
              <a:t>Dataset:</a:t>
            </a:r>
            <a:endParaRPr lang="en-IN" dirty="0"/>
          </a:p>
          <a:p>
            <a:r>
              <a:rPr lang="en-IN" dirty="0"/>
              <a:t>Total samples: 51 (19 real + 32 synthetic)</a:t>
            </a:r>
          </a:p>
          <a:p>
            <a:r>
              <a:rPr lang="en-IN" dirty="0"/>
              <a:t>Normal: 22 samples</a:t>
            </a:r>
          </a:p>
          <a:p>
            <a:r>
              <a:rPr lang="en-IN" dirty="0"/>
              <a:t>Anomaly: 29 samples</a:t>
            </a:r>
          </a:p>
          <a:p>
            <a:r>
              <a:rPr lang="en-IN" dirty="0"/>
              <a:t>Features: 12 numerical features extracted from artifacts</a:t>
            </a:r>
          </a:p>
          <a:p>
            <a:r>
              <a:rPr lang="en-IN" b="1" dirty="0"/>
              <a:t>Results:</a:t>
            </a:r>
            <a:endParaRPr lang="en-IN" dirty="0"/>
          </a:p>
          <a:p>
            <a:r>
              <a:rPr lang="en-IN" dirty="0"/>
              <a:t>Overall Accuracy: 84%</a:t>
            </a:r>
          </a:p>
          <a:p>
            <a:r>
              <a:rPr lang="en-IN" dirty="0"/>
              <a:t>Anomaly Recall: 93.1% (27/29 anomalies caught)</a:t>
            </a:r>
          </a:p>
          <a:p>
            <a:r>
              <a:rPr lang="en-IN" dirty="0"/>
              <a:t>False Negatives: 2 (both weak anomalies also caught by rule engine)</a:t>
            </a:r>
          </a:p>
          <a:p>
            <a:r>
              <a:rPr lang="en-IN" b="1" dirty="0"/>
              <a:t>Key Point:</a:t>
            </a:r>
            <a:br>
              <a:rPr lang="en-IN" dirty="0"/>
            </a:br>
            <a:r>
              <a:rPr lang="en-IN" dirty="0"/>
              <a:t>Rule engine + ML complement each other — if one misses, the other catches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919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2E9D-6D08-2AEE-ADD3-CA8FAF8D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IN" dirty="0"/>
              <a:t>Validation Framework — Per-Rule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46E315-022F-20F5-9315-D928FD971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49581"/>
            <a:ext cx="8899358" cy="3817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C08C45-0815-E6A1-C0F5-A7CB52B5F258}"/>
              </a:ext>
            </a:extLst>
          </p:cNvPr>
          <p:cNvSpPr txBox="1"/>
          <p:nvPr/>
        </p:nvSpPr>
        <p:spPr>
          <a:xfrm>
            <a:off x="838200" y="5208254"/>
            <a:ext cx="2534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System Average:</a:t>
            </a:r>
            <a:endParaRPr lang="en-IN" sz="2400" dirty="0"/>
          </a:p>
          <a:p>
            <a:r>
              <a:rPr lang="en-IN" sz="2400" dirty="0"/>
              <a:t>Precision: 95.2%</a:t>
            </a:r>
          </a:p>
          <a:p>
            <a:r>
              <a:rPr lang="en-IN" sz="2400" dirty="0"/>
              <a:t>Recall: 74.2%</a:t>
            </a:r>
          </a:p>
        </p:txBody>
      </p:sp>
    </p:spTree>
    <p:extLst>
      <p:ext uri="{BB962C8B-B14F-4D97-AF65-F5344CB8AC3E}">
        <p14:creationId xmlns:p14="http://schemas.microsoft.com/office/powerpoint/2010/main" val="279164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443C-80C6-88A0-8320-DB084254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317"/>
          </a:xfrm>
        </p:spPr>
        <p:txBody>
          <a:bodyPr>
            <a:normAutofit fontScale="90000"/>
          </a:bodyPr>
          <a:lstStyle/>
          <a:p>
            <a:r>
              <a:rPr lang="en-IN" dirty="0"/>
              <a:t>Novel Research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4EA76-3D20-DFB3-759C-61EAA3D2B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863"/>
            <a:ext cx="10515600" cy="5246521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Finding 1 — </a:t>
            </a:r>
            <a:r>
              <a:rPr lang="en-IN" sz="2400" b="1" dirty="0" err="1"/>
              <a:t>notification_log.db</a:t>
            </a:r>
            <a:r>
              <a:rPr lang="en-IN" sz="2400" b="1" dirty="0"/>
              <a:t> as Ghost Trace Artifact</a:t>
            </a:r>
            <a:endParaRPr lang="en-IN" sz="2400" dirty="0"/>
          </a:p>
          <a:p>
            <a:r>
              <a:rPr lang="en-IN" sz="2400" dirty="0" err="1"/>
              <a:t>notification_log.db</a:t>
            </a:r>
            <a:r>
              <a:rPr lang="en-IN" sz="2400" dirty="0"/>
              <a:t> survives app uninstall, file wiping, and Clear Data on Android 10 with 100% precision and recall. This artifact has not been specifically documented as a cross-vector ghost trace indicator in prior literature.</a:t>
            </a:r>
          </a:p>
          <a:p>
            <a:r>
              <a:rPr lang="en-IN" sz="2400" b="1" dirty="0"/>
              <a:t>Finding 2 — packages.xml Fully Sanitised on Uninstall</a:t>
            </a:r>
            <a:endParaRPr lang="en-IN" sz="2400" dirty="0"/>
          </a:p>
          <a:p>
            <a:r>
              <a:rPr lang="en-IN" sz="2400" dirty="0"/>
              <a:t>On Android 10, packages.xml entries are completely removed upon app uninstall — contradicting pre-Android 10 literature which reported residual entries.</a:t>
            </a:r>
          </a:p>
          <a:p>
            <a:r>
              <a:rPr lang="en-IN" sz="2400" b="1" dirty="0"/>
              <a:t>Finding 3 — Factory Reset via Development Tools</a:t>
            </a:r>
            <a:endParaRPr lang="en-IN" sz="2400" dirty="0"/>
          </a:p>
          <a:p>
            <a:r>
              <a:rPr lang="en-IN" sz="2400" dirty="0"/>
              <a:t>Android Studio Wipe Data does not create the </a:t>
            </a:r>
            <a:r>
              <a:rPr lang="en-IN" sz="2400" dirty="0" err="1"/>
              <a:t>factory_reset</a:t>
            </a:r>
            <a:r>
              <a:rPr lang="en-IN" sz="2400" dirty="0"/>
              <a:t> timestamp file unlike Settings-based reset — a forensically significant distinction for investigators examining development devices.</a:t>
            </a:r>
          </a:p>
          <a:p>
            <a:r>
              <a:rPr lang="en-IN" sz="2400" b="1" dirty="0"/>
              <a:t>Finding 4 — Cross-Vector Artifact Correlation</a:t>
            </a:r>
            <a:endParaRPr lang="en-IN" sz="2400" dirty="0"/>
          </a:p>
          <a:p>
            <a:r>
              <a:rPr lang="en-IN" sz="2400" dirty="0"/>
              <a:t>System-level artifacts (</a:t>
            </a:r>
            <a:r>
              <a:rPr lang="en-IN" sz="2400" dirty="0" err="1"/>
              <a:t>usagestats</a:t>
            </a:r>
            <a:r>
              <a:rPr lang="en-IN" sz="2400" dirty="0"/>
              <a:t>, </a:t>
            </a:r>
            <a:r>
              <a:rPr lang="en-IN" sz="2400" dirty="0" err="1"/>
              <a:t>notification_log.db</a:t>
            </a:r>
            <a:r>
              <a:rPr lang="en-IN" sz="2400" dirty="0"/>
              <a:t>, </a:t>
            </a:r>
            <a:r>
              <a:rPr lang="en-IN" sz="2400" dirty="0" err="1"/>
              <a:t>dropbox</a:t>
            </a:r>
            <a:r>
              <a:rPr lang="en-IN" sz="2400" dirty="0"/>
              <a:t>) are cross-vector indicators — a single anti-forensic action leaves traces detectable across multiple attack vectors simultaneously.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68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76B4-9EE4-6D98-167F-2C39A8A4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696"/>
          </a:xfrm>
        </p:spPr>
        <p:txBody>
          <a:bodyPr/>
          <a:lstStyle/>
          <a:p>
            <a:r>
              <a:rPr lang="en-IN" dirty="0" err="1"/>
              <a:t>DroidSentinel</a:t>
            </a:r>
            <a:r>
              <a:rPr lang="en-IN" dirty="0"/>
              <a:t> vs Autopsy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5513B-AEC0-947E-3F1F-AB8A095DD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237" y="1074822"/>
            <a:ext cx="9133247" cy="4229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31CAF9-4450-209A-6D28-E1E1B8731E3E}"/>
              </a:ext>
            </a:extLst>
          </p:cNvPr>
          <p:cNvSpPr txBox="1"/>
          <p:nvPr/>
        </p:nvSpPr>
        <p:spPr>
          <a:xfrm>
            <a:off x="838200" y="5460012"/>
            <a:ext cx="10150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Conclusion:</a:t>
            </a:r>
            <a:br>
              <a:rPr lang="en-IN" dirty="0"/>
            </a:br>
            <a:r>
              <a:rPr lang="en-IN" dirty="0" err="1"/>
              <a:t>DroidSentinel</a:t>
            </a:r>
            <a:r>
              <a:rPr lang="en-IN" dirty="0"/>
              <a:t> detects anti-forensic activity that Autopsy misses — specifically ghost traces, wiping app fingerprints, and </a:t>
            </a:r>
            <a:r>
              <a:rPr lang="en-IN" dirty="0" err="1"/>
              <a:t>behavioral</a:t>
            </a:r>
            <a:r>
              <a:rPr lang="en-IN" dirty="0"/>
              <a:t> anomalies.</a:t>
            </a:r>
          </a:p>
        </p:txBody>
      </p:sp>
    </p:spTree>
    <p:extLst>
      <p:ext uri="{BB962C8B-B14F-4D97-AF65-F5344CB8AC3E}">
        <p14:creationId xmlns:p14="http://schemas.microsoft.com/office/powerpoint/2010/main" val="45472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552E-B52F-CBB9-3BDF-10D44A6F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IN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03162-942A-9A49-697E-283582B0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80"/>
            <a:ext cx="10515600" cy="511818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Current Limitations:</a:t>
            </a:r>
            <a:endParaRPr lang="en-IN" dirty="0"/>
          </a:p>
          <a:p>
            <a:r>
              <a:rPr lang="en-IN" dirty="0"/>
              <a:t>Tested on emulator only — real device testing needed</a:t>
            </a:r>
          </a:p>
          <a:p>
            <a:r>
              <a:rPr lang="en-IN" dirty="0"/>
              <a:t>Small dataset (51 samples) — needs expansion</a:t>
            </a:r>
          </a:p>
          <a:p>
            <a:r>
              <a:rPr lang="en-IN" dirty="0"/>
              <a:t>R11 misses apps with non-descriptive package names</a:t>
            </a:r>
          </a:p>
          <a:p>
            <a:r>
              <a:rPr lang="en-IN" dirty="0" err="1"/>
              <a:t>factory_reset</a:t>
            </a:r>
            <a:r>
              <a:rPr lang="en-IN" dirty="0"/>
              <a:t> detection only works via Settings reset</a:t>
            </a:r>
          </a:p>
          <a:p>
            <a:r>
              <a:rPr lang="en-IN" dirty="0"/>
              <a:t>Secure Eraser admob.xml colon filename issue on Windows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Future Work:</a:t>
            </a:r>
            <a:endParaRPr lang="en-IN" dirty="0"/>
          </a:p>
          <a:p>
            <a:r>
              <a:rPr lang="en-IN" dirty="0"/>
              <a:t>Test on physical Android devices</a:t>
            </a:r>
          </a:p>
          <a:p>
            <a:r>
              <a:rPr lang="en-IN" dirty="0"/>
              <a:t>Expand to Android 12/13/14</a:t>
            </a:r>
          </a:p>
          <a:p>
            <a:r>
              <a:rPr lang="en-IN" dirty="0"/>
              <a:t>Add detection for encryption-based anti-forensics</a:t>
            </a:r>
          </a:p>
          <a:p>
            <a:r>
              <a:rPr lang="en-IN" dirty="0"/>
              <a:t>Expand R11 to detect more </a:t>
            </a:r>
            <a:r>
              <a:rPr lang="en-IN" dirty="0" err="1"/>
              <a:t>behavioral</a:t>
            </a:r>
            <a:r>
              <a:rPr lang="en-IN" dirty="0"/>
              <a:t> patterns</a:t>
            </a:r>
          </a:p>
          <a:p>
            <a:r>
              <a:rPr lang="en-IN" dirty="0"/>
              <a:t>Add network traffic analysis layer</a:t>
            </a:r>
          </a:p>
          <a:p>
            <a:r>
              <a:rPr lang="en-IN" dirty="0"/>
              <a:t>Expand dataset with real-world device scans</a:t>
            </a:r>
          </a:p>
          <a:p>
            <a:r>
              <a:rPr lang="en-IN" dirty="0"/>
              <a:t>Publish findings — </a:t>
            </a:r>
            <a:r>
              <a:rPr lang="en-IN" dirty="0" err="1"/>
              <a:t>notification_log.db</a:t>
            </a:r>
            <a:r>
              <a:rPr lang="en-IN" dirty="0"/>
              <a:t> ghost trace finding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64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2360F-5C15-2DDF-DA16-DE97395A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292" y="3189668"/>
            <a:ext cx="2185416" cy="478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Thank You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608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1187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Title: DroidSentinel: An Android Anti-Forensics Detection Framework Subtitle: Automated Multi-Vector Detection with Rule-Based Analysis and Machine Learning Presented by: Pavitra Kulkarni (PES1UG24CS817) Supervisor: Prof. Preet Kanwal Research Centre: PESU-ISFCR — AI/ML for Cybersecurity Duration: June–July 2026 </vt:lpstr>
      <vt:lpstr>Title: Mobile Forensics — Overview</vt:lpstr>
      <vt:lpstr>Title: Anti-Forensics on Android</vt:lpstr>
      <vt:lpstr>Title: Research Gap — Why DroidSentinel?</vt:lpstr>
      <vt:lpstr>Literature Review</vt:lpstr>
      <vt:lpstr>DroidSentinel — System Architecture</vt:lpstr>
      <vt:lpstr>Experimental Setup</vt:lpstr>
      <vt:lpstr>Artifact Survival Matrix</vt:lpstr>
      <vt:lpstr>Rule Engine — 11 Detection Rules</vt:lpstr>
      <vt:lpstr>Weighted Confidence Scoring System</vt:lpstr>
      <vt:lpstr>Machine Learning Layer — Isolation Forest</vt:lpstr>
      <vt:lpstr>Validation Framework — Per-Rule Performance</vt:lpstr>
      <vt:lpstr>Novel Research Findings</vt:lpstr>
      <vt:lpstr>DroidSentinel vs Autopsy</vt:lpstr>
      <vt:lpstr>Limitations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Pavitra Kulkarni</dc:creator>
  <cp:lastModifiedBy>Pavitra Kulkarni</cp:lastModifiedBy>
  <cp:revision>1</cp:revision>
  <dcterms:created xsi:type="dcterms:W3CDTF">2026-06-25T04:02:16Z</dcterms:created>
  <dcterms:modified xsi:type="dcterms:W3CDTF">2026-06-25T04:23:41Z</dcterms:modified>
</cp:coreProperties>
</file>